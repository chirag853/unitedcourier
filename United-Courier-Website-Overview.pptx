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r:id="rId2"/>
  </p:sld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</p:sldIdLst>
  <p:sldSz cx="12188952" cy="6858000" type="screen16x9"/>
  <p:notesSz cx="6858000" cy="9144000"/>
</p:presentation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Layout" Target="slideLayouts/slideLayout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37" Type="http://schemas.openxmlformats.org/officeDocument/2006/relationships/slide" Target="slides/slide35.xml"/><Relationship Id="rId38" Type="http://schemas.openxmlformats.org/officeDocument/2006/relationships/slide" Target="slides/slide36.xml"/><Relationship Id="rId39" Type="http://schemas.openxmlformats.org/officeDocument/2006/relationships/slide" Target="slides/slide37.xml"/><Relationship Id="rId40" Type="http://schemas.openxmlformats.org/officeDocument/2006/relationships/slide" Target="slides/slide38.xml"/><Relationship Id="rId41" Type="http://schemas.openxmlformats.org/officeDocument/2006/relationships/slide" Target="slides/slide39.xml"/><Relationship Id="rId42" Type="http://schemas.openxmlformats.org/officeDocument/2006/relationships/slide" Target="slides/slide40.xml"/><Relationship Id="rId43" Type="http://schemas.openxmlformats.org/officeDocument/2006/relationships/slide" Target="slides/slide41.xml"/></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r:id="rId1"/>
  </p:sldLayoutIdLst>
  <p:txStyles>
    <p:titleStyle>
      <a:lvl1pPr>
        <a:defRPr sz="4400" b="1"/>
      </a:lvl1pPr>
    </p:titleStyle>
    <p:bodyStyle>
      <a:lvl1pPr>
        <a:defRPr sz="3200"/>
      </a:lvl1pPr>
    </p:bodyStyle>
    <p:otherStyle>
      <a:lvl1pPr>
        <a:defRPr sz="1800"/>
      </a:lvl1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logo.png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g5.png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g6.png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g7.png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g8.png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g9.png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g10.png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g11.png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g12.png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g13.png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g14.png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g15.png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g16.png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g17.png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g18.png"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g19.png"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g21.png"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g22.png"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g23.png"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g24.png"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g25.png"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g26.png"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g28.png"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g29.png"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g30.png"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g31.png"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g32.png"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g33.png"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g34.png"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g35.png"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g36.png"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g37.png"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g38.png"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g39.png"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logo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3A5F"/>
          </a:solidFill>
        </p:spPr>
        <p:txBody>
          <a:bodyPr/>
          <a:lstStyle/>
          <a:p>
            <a:r>
              <a:t> </a:t>
            </a:r>
          </a:p>
        </p:txBody>
      </p:sp>
      <p:pic>
        <p:nvPicPr>
          <p:cNvPr id="9" name="img9"/>
          <p:cNvPicPr/>
          <p:nvPr/>
        </p:nvPicPr>
        <p:blipFill>
          <a:blip r:embed="rId2"/>
          <a:stretch>
            <a:fillRect/>
          </a:stretch>
        </p:blipFill>
        <p:spPr>
          <a:xfrm>
            <a:off x="4997196" y="777240"/>
            <a:ext cx="2194560" cy="910336"/>
          </a:xfrm>
          <a:prstGeom prst="rect">
            <a:avLst/>
          </a:prstGeom>
        </p:spPr>
      </p:pic>
      <p:sp>
        <p:nvSpPr>
          <p:cNvPr id="3" name="tx3"/>
          <p:cNvSpPr/>
          <p:nvPr/>
        </p:nvSpPr>
        <p:spPr>
          <a:xfrm>
            <a:off x="731520" y="2194560"/>
            <a:ext cx="10698480" cy="1280160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sz="5400" b="1" cap="flat">
                <a:solidFill>
                  <a:srgbClr val="FFFFFF"/>
                </a:solidFill>
              </a:rPr>
              <a:t>United Courier</a:t>
            </a:r>
          </a:p>
        </p:txBody>
      </p:sp>
      <p:sp>
        <p:nvSpPr>
          <p:cNvPr id="4" name="tx4"/>
          <p:cNvSpPr/>
          <p:nvPr/>
        </p:nvSpPr>
        <p:spPr>
          <a:xfrm>
            <a:off x="731520" y="3566160"/>
            <a:ext cx="10698480" cy="731520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sz="2400" b="0" cap="flat">
                <a:solidFill>
                  <a:srgbClr val="D9E2F3"/>
                </a:solidFill>
              </a:rPr>
              <a:t>Website Overview  •  October 2026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3A5F"/>
          </a:solidFill>
        </p:spPr>
        <p:txBody>
          <a:bodyPr/>
          <a:lstStyle/>
          <a:p>
            <a:r>
              <a:t> </a:t>
            </a:r>
          </a:p>
        </p:txBody>
      </p:sp>
      <p:sp>
        <p:nvSpPr>
          <p:cNvPr id="3" name="tx3"/>
          <p:cNvSpPr/>
          <p:nvPr/>
        </p:nvSpPr>
        <p:spPr>
          <a:xfrm>
            <a:off x="457200" y="109728"/>
            <a:ext cx="11247120" cy="82296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sz="3200" b="1" cap="flat">
                <a:solidFill>
                  <a:srgbClr val="FFFFFF"/>
                </a:solidFill>
              </a:rPr>
              <a:t>Software USP — Why United Courier Platform</a:t>
            </a:r>
          </a:p>
        </p:txBody>
      </p:sp>
      <p:sp>
        <p:nvSpPr>
          <p:cNvPr id="4" name="bul4"/>
          <p:cNvSpPr/>
          <p:nvPr/>
        </p:nvSpPr>
        <p:spPr>
          <a:xfrm>
            <a:off x="640080" y="1463040"/>
            <a:ext cx="10881360" cy="4937760"/>
          </a:xfrm>
          <a:prstGeom prst="rect">
            <a:avLst/>
          </a:prstGeom>
        </p:spPr>
        <p:txBody>
          <a:bodyPr/>
          <a:lstStyle/>
          <a:p>
            <a:pPr marL="228600" indent="-228600">
              <a:buChar char="•"/>
            </a:pPr>
            <a:r>
              <a:rPr lang="en-US" sz="2000" cap="flat">
                <a:solidFill>
                  <a:srgbClr val="333333"/>
                </a:solidFill>
              </a:rPr>
              <a:t>One platform for 8+ carriers — UPS, ShipUniversal, ShipGlobal, Overseas, Primus, Flying Tigers, PostShipping, SELF — single manifest flow for all</a:t>
            </a:r>
          </a:p>
          <a:p>
            <a:pPr marL="228600" indent="-228600">
              <a:buChar char="•"/>
            </a:pPr>
            <a:r>
              <a:rPr lang="en-US" sz="2000" cap="flat">
                <a:solidFill>
                  <a:srgbClr val="333333"/>
                </a:solidFill>
              </a:rPr>
              <a:t>Exact service routing by service_id — same method name under many providers always hits the right carrier API + service code</a:t>
            </a:r>
          </a:p>
          <a:p>
            <a:pPr marL="228600" indent="-228600">
              <a:buChar char="•"/>
            </a:pPr>
            <a:r>
              <a:rPr lang="en-US" sz="2000" cap="flat">
                <a:solidFill>
                  <a:srgbClr val="333333"/>
                </a:solidFill>
              </a:rPr>
              <a:t>Wallet-first billing — recharge (cash/online/API), auto-deduction only after successful booking, full transaction ledger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3A5F"/>
          </a:solidFill>
        </p:spPr>
        <p:txBody>
          <a:bodyPr/>
          <a:lstStyle/>
          <a:p>
            <a:r>
              <a:t> </a:t>
            </a:r>
          </a:p>
        </p:txBody>
      </p:sp>
      <p:sp>
        <p:nvSpPr>
          <p:cNvPr id="3" name="tx3"/>
          <p:cNvSpPr/>
          <p:nvPr/>
        </p:nvSpPr>
        <p:spPr>
          <a:xfrm>
            <a:off x="457200" y="109728"/>
            <a:ext cx="11247120" cy="82296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sz="3200" b="1" cap="flat">
                <a:solidFill>
                  <a:srgbClr val="FFFFFF"/>
                </a:solidFill>
              </a:rPr>
              <a:t>Software USP — Operations Power</a:t>
            </a:r>
          </a:p>
        </p:txBody>
      </p:sp>
      <p:sp>
        <p:nvSpPr>
          <p:cNvPr id="4" name="bul4"/>
          <p:cNvSpPr/>
          <p:nvPr/>
        </p:nvSpPr>
        <p:spPr>
          <a:xfrm>
            <a:off x="640080" y="1463040"/>
            <a:ext cx="10881360" cy="4937760"/>
          </a:xfrm>
          <a:prstGeom prst="rect">
            <a:avLst/>
          </a:prstGeom>
        </p:spPr>
        <p:txBody>
          <a:bodyPr/>
          <a:lstStyle/>
          <a:p>
            <a:pPr marL="228600" indent="-228600">
              <a:buChar char="•"/>
            </a:pPr>
            <a:r>
              <a:rPr lang="en-US" sz="2000" cap="flat">
                <a:solidFill>
                  <a:srgbClr val="333333"/>
                </a:solidFill>
              </a:rPr>
              <a:t>3 order flows — customer self-booking, admin COD, admin Prepaid with auto carrier booking at creation</a:t>
            </a:r>
          </a:p>
          <a:p>
            <a:pPr marL="228600" indent="-228600">
              <a:buChar char="•"/>
            </a:pPr>
            <a:r>
              <a:rPr lang="en-US" sz="2000" cap="flat">
                <a:solidFill>
                  <a:srgbClr val="333333"/>
                </a:solidFill>
              </a:rPr>
              <a:t>Bulk upload with guardrails — ServiceType + destination + zone-wise rates, HSN / reference / state validations, per-row rollback</a:t>
            </a:r>
          </a:p>
          <a:p>
            <a:pPr marL="228600" indent="-228600">
              <a:buChar char="•"/>
            </a:pPr>
            <a:r>
              <a:rPr lang="en-US" sz="2000" cap="flat">
                <a:solidFill>
                  <a:srgbClr val="333333"/>
                </a:solidFill>
              </a:rPr>
              <a:t>Labels for every need — carrier labels, custom 4x6 courier labels (BOX X OF N), A4 invoice labels, manifest documents</a:t>
            </a:r>
          </a:p>
          <a:p>
            <a:pPr marL="228600" indent="-228600">
              <a:buChar char="•"/>
            </a:pPr>
            <a:r>
              <a:rPr lang="en-US" sz="2000" cap="flat">
                <a:solidFill>
                  <a:srgbClr val="333333"/>
                </a:solidFill>
              </a:rPr>
              <a:t>Full shipment lifecycle — draft, ready, packed, manifested, pickup, dispatch, delivered + dispute / cancel / not-received handling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3A5F"/>
          </a:solidFill>
        </p:spPr>
        <p:txBody>
          <a:bodyPr/>
          <a:lstStyle/>
          <a:p>
            <a:r>
              <a:t> </a:t>
            </a:r>
          </a:p>
        </p:txBody>
      </p:sp>
      <p:sp>
        <p:nvSpPr>
          <p:cNvPr id="3" name="tx3"/>
          <p:cNvSpPr/>
          <p:nvPr/>
        </p:nvSpPr>
        <p:spPr>
          <a:xfrm>
            <a:off x="457200" y="109728"/>
            <a:ext cx="11247120" cy="82296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sz="3200" b="1" cap="flat">
                <a:solidFill>
                  <a:srgbClr val="FFFFFF"/>
                </a:solidFill>
              </a:rPr>
              <a:t>Software USP — Compliance, Tracking &amp; Openness</a:t>
            </a:r>
          </a:p>
        </p:txBody>
      </p:sp>
      <p:sp>
        <p:nvSpPr>
          <p:cNvPr id="4" name="bul4"/>
          <p:cNvSpPr/>
          <p:nvPr/>
        </p:nvSpPr>
        <p:spPr>
          <a:xfrm>
            <a:off x="640080" y="1463040"/>
            <a:ext cx="10881360" cy="4937760"/>
          </a:xfrm>
          <a:prstGeom prst="rect">
            <a:avLst/>
          </a:prstGeom>
        </p:spPr>
        <p:txBody>
          <a:bodyPr/>
          <a:lstStyle/>
          <a:p>
            <a:pPr marL="228600" indent="-228600">
              <a:buChar char="•"/>
            </a:pPr>
            <a:r>
              <a:rPr lang="en-US" sz="2000" cap="flat">
                <a:solidFill>
                  <a:srgbClr val="333333"/>
                </a:solidFill>
              </a:rPr>
              <a:t>KYC with verification — GSTIN / Aadhaar / PAN checked via Cashfree, CSB-IV and CSB-V profiles, LUT / bond support</a:t>
            </a:r>
          </a:p>
          <a:p>
            <a:pPr marL="228600" indent="-228600">
              <a:buChar char="•"/>
            </a:pPr>
            <a:r>
              <a:rPr lang="en-US" sz="2000" cap="flat">
                <a:solidFill>
                  <a:srgbClr val="333333"/>
                </a:solidFill>
              </a:rPr>
              <a:t>Tracking everywhere — AWB + reference multi-search, public track page, per-package labels with barcodes</a:t>
            </a:r>
          </a:p>
          <a:p>
            <a:pPr marL="228600" indent="-228600">
              <a:buChar char="•"/>
            </a:pPr>
            <a:r>
              <a:rPr lang="en-US" sz="2000" cap="flat">
                <a:solidFill>
                  <a:srgbClr val="333333"/>
                </a:solidFill>
              </a:rPr>
              <a:t>NOT_IMPLEMENTED services run internally like SELF — no failed carrier calls, wallet still charged correctly</a:t>
            </a:r>
          </a:p>
          <a:p>
            <a:pPr marL="228600" indent="-228600">
              <a:buChar char="•"/>
            </a:pPr>
            <a:r>
              <a:rPr lang="en-US" sz="2000" cap="flat">
                <a:solidFill>
                  <a:srgbClr val="333333"/>
                </a:solidFill>
              </a:rPr>
              <a:t>Open no-auth APIs — wallet recharge, tracking update, COD close + token-based manifest APIs; CMS-driven public website with free tools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3A5F"/>
          </a:solidFill>
        </p:spPr>
        <p:txBody>
          <a:bodyPr/>
          <a:lstStyle/>
          <a:p>
            <a:r>
              <a:t> </a:t>
            </a:r>
          </a:p>
        </p:txBody>
      </p:sp>
      <p:sp>
        <p:nvSpPr>
          <p:cNvPr id="3" name="tx3"/>
          <p:cNvSpPr/>
          <p:nvPr/>
        </p:nvSpPr>
        <p:spPr>
          <a:xfrm>
            <a:off x="457200" y="109728"/>
            <a:ext cx="11247120" cy="82296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sz="2800" b="1" cap="flat">
                <a:solidFill>
                  <a:srgbClr val="FFFFFF"/>
                </a:solidFill>
              </a:rPr>
              <a:t>Home Page  ( / )</a:t>
            </a:r>
          </a:p>
        </p:txBody>
      </p:sp>
      <p:pic>
        <p:nvPicPr>
          <p:cNvPr id="4" name="img4"/>
          <p:cNvPicPr/>
          <p:nvPr/>
        </p:nvPicPr>
        <p:blipFill>
          <a:blip r:embed="rId2"/>
          <a:stretch>
            <a:fillRect/>
          </a:stretch>
        </p:blipFill>
        <p:spPr>
          <a:xfrm>
            <a:off x="2590139" y="1188720"/>
            <a:ext cx="7008672" cy="4617720"/>
          </a:xfrm>
          <a:prstGeom prst="rect">
            <a:avLst/>
          </a:prstGeom>
        </p:spPr>
      </p:pic>
      <p:sp>
        <p:nvSpPr>
          <p:cNvPr id="5" name="tx5"/>
          <p:cNvSpPr/>
          <p:nvPr/>
        </p:nvSpPr>
        <p:spPr>
          <a:xfrm>
            <a:off x="457200" y="5989320"/>
            <a:ext cx="11247120" cy="54864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sz="1600" b="0" cap="flat">
                <a:solidFill>
                  <a:srgbClr val="555555"/>
                </a:solidFill>
              </a:rPr>
              <a:t>Main landing page with services, tracking entry and key highlights.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3A5F"/>
          </a:solidFill>
        </p:spPr>
        <p:txBody>
          <a:bodyPr/>
          <a:lstStyle/>
          <a:p>
            <a:r>
              <a:t> </a:t>
            </a:r>
          </a:p>
        </p:txBody>
      </p:sp>
      <p:sp>
        <p:nvSpPr>
          <p:cNvPr id="3" name="tx3"/>
          <p:cNvSpPr/>
          <p:nvPr/>
        </p:nvSpPr>
        <p:spPr>
          <a:xfrm>
            <a:off x="457200" y="109728"/>
            <a:ext cx="11247120" cy="82296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sz="2800" b="1" cap="flat">
                <a:solidFill>
                  <a:srgbClr val="FFFFFF"/>
                </a:solidFill>
              </a:rPr>
              <a:t>About Us  ( /about )</a:t>
            </a:r>
          </a:p>
        </p:txBody>
      </p:sp>
      <p:pic>
        <p:nvPicPr>
          <p:cNvPr id="4" name="img4"/>
          <p:cNvPicPr/>
          <p:nvPr/>
        </p:nvPicPr>
        <p:blipFill>
          <a:blip r:embed="rId2"/>
          <a:stretch>
            <a:fillRect/>
          </a:stretch>
        </p:blipFill>
        <p:spPr>
          <a:xfrm>
            <a:off x="2590139" y="1188720"/>
            <a:ext cx="7008672" cy="4617720"/>
          </a:xfrm>
          <a:prstGeom prst="rect">
            <a:avLst/>
          </a:prstGeom>
        </p:spPr>
      </p:pic>
      <p:sp>
        <p:nvSpPr>
          <p:cNvPr id="5" name="tx5"/>
          <p:cNvSpPr/>
          <p:nvPr/>
        </p:nvSpPr>
        <p:spPr>
          <a:xfrm>
            <a:off x="457200" y="5989320"/>
            <a:ext cx="11247120" cy="54864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sz="1600" b="0" cap="flat">
                <a:solidFill>
                  <a:srgbClr val="555555"/>
                </a:solidFill>
              </a:rPr>
              <a:t>Company profile, mission and strengths.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3A5F"/>
          </a:solidFill>
        </p:spPr>
        <p:txBody>
          <a:bodyPr/>
          <a:lstStyle/>
          <a:p>
            <a:r>
              <a:t> </a:t>
            </a:r>
          </a:p>
        </p:txBody>
      </p:sp>
      <p:sp>
        <p:nvSpPr>
          <p:cNvPr id="3" name="tx3"/>
          <p:cNvSpPr/>
          <p:nvPr/>
        </p:nvSpPr>
        <p:spPr>
          <a:xfrm>
            <a:off x="457200" y="109728"/>
            <a:ext cx="11247120" cy="82296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sz="2800" b="1" cap="flat">
                <a:solidFill>
                  <a:srgbClr val="FFFFFF"/>
                </a:solidFill>
              </a:rPr>
              <a:t>Services  ( /service )</a:t>
            </a:r>
          </a:p>
        </p:txBody>
      </p:sp>
      <p:pic>
        <p:nvPicPr>
          <p:cNvPr id="4" name="img4"/>
          <p:cNvPicPr/>
          <p:nvPr/>
        </p:nvPicPr>
        <p:blipFill>
          <a:blip r:embed="rId2"/>
          <a:stretch>
            <a:fillRect/>
          </a:stretch>
        </p:blipFill>
        <p:spPr>
          <a:xfrm>
            <a:off x="2590139" y="1188720"/>
            <a:ext cx="7008672" cy="4617720"/>
          </a:xfrm>
          <a:prstGeom prst="rect">
            <a:avLst/>
          </a:prstGeom>
        </p:spPr>
      </p:pic>
      <p:sp>
        <p:nvSpPr>
          <p:cNvPr id="5" name="tx5"/>
          <p:cNvSpPr/>
          <p:nvPr/>
        </p:nvSpPr>
        <p:spPr>
          <a:xfrm>
            <a:off x="457200" y="5989320"/>
            <a:ext cx="11247120" cy="54864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sz="1600" b="0" cap="flat">
                <a:solidFill>
                  <a:srgbClr val="555555"/>
                </a:solidFill>
              </a:rPr>
              <a:t>Courier and logistics service offerings.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3A5F"/>
          </a:solidFill>
        </p:spPr>
        <p:txBody>
          <a:bodyPr/>
          <a:lstStyle/>
          <a:p>
            <a:r>
              <a:t> </a:t>
            </a:r>
          </a:p>
        </p:txBody>
      </p:sp>
      <p:sp>
        <p:nvSpPr>
          <p:cNvPr id="3" name="tx3"/>
          <p:cNvSpPr/>
          <p:nvPr/>
        </p:nvSpPr>
        <p:spPr>
          <a:xfrm>
            <a:off x="457200" y="109728"/>
            <a:ext cx="11247120" cy="82296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sz="2800" b="1" cap="flat">
                <a:solidFill>
                  <a:srgbClr val="FFFFFF"/>
                </a:solidFill>
              </a:rPr>
              <a:t>Network  ( /network )</a:t>
            </a:r>
          </a:p>
        </p:txBody>
      </p:sp>
      <p:pic>
        <p:nvPicPr>
          <p:cNvPr id="4" name="img4"/>
          <p:cNvPicPr/>
          <p:nvPr/>
        </p:nvPicPr>
        <p:blipFill>
          <a:blip r:embed="rId2"/>
          <a:stretch>
            <a:fillRect/>
          </a:stretch>
        </p:blipFill>
        <p:spPr>
          <a:xfrm>
            <a:off x="2590139" y="1188720"/>
            <a:ext cx="7008672" cy="4617720"/>
          </a:xfrm>
          <a:prstGeom prst="rect">
            <a:avLst/>
          </a:prstGeom>
        </p:spPr>
      </p:pic>
      <p:sp>
        <p:nvSpPr>
          <p:cNvPr id="5" name="tx5"/>
          <p:cNvSpPr/>
          <p:nvPr/>
        </p:nvSpPr>
        <p:spPr>
          <a:xfrm>
            <a:off x="457200" y="5989320"/>
            <a:ext cx="11247120" cy="54864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sz="1600" b="0" cap="flat">
                <a:solidFill>
                  <a:srgbClr val="555555"/>
                </a:solidFill>
              </a:rPr>
              <a:t>Global delivery network coverage.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3A5F"/>
          </a:solidFill>
        </p:spPr>
        <p:txBody>
          <a:bodyPr/>
          <a:lstStyle/>
          <a:p>
            <a:r>
              <a:t> </a:t>
            </a:r>
          </a:p>
        </p:txBody>
      </p:sp>
      <p:sp>
        <p:nvSpPr>
          <p:cNvPr id="3" name="tx3"/>
          <p:cNvSpPr/>
          <p:nvPr/>
        </p:nvSpPr>
        <p:spPr>
          <a:xfrm>
            <a:off x="457200" y="109728"/>
            <a:ext cx="11247120" cy="82296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sz="2800" b="1" cap="flat">
                <a:solidFill>
                  <a:srgbClr val="FFFFFF"/>
                </a:solidFill>
              </a:rPr>
              <a:t>Track Order  ( /tracking )</a:t>
            </a:r>
          </a:p>
        </p:txBody>
      </p:sp>
      <p:pic>
        <p:nvPicPr>
          <p:cNvPr id="4" name="img4"/>
          <p:cNvPicPr/>
          <p:nvPr/>
        </p:nvPicPr>
        <p:blipFill>
          <a:blip r:embed="rId2"/>
          <a:stretch>
            <a:fillRect/>
          </a:stretch>
        </p:blipFill>
        <p:spPr>
          <a:xfrm>
            <a:off x="2590139" y="1188720"/>
            <a:ext cx="7008672" cy="4617720"/>
          </a:xfrm>
          <a:prstGeom prst="rect">
            <a:avLst/>
          </a:prstGeom>
        </p:spPr>
      </p:pic>
      <p:sp>
        <p:nvSpPr>
          <p:cNvPr id="5" name="tx5"/>
          <p:cNvSpPr/>
          <p:nvPr/>
        </p:nvSpPr>
        <p:spPr>
          <a:xfrm>
            <a:off x="457200" y="5989320"/>
            <a:ext cx="11247120" cy="54864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sz="1600" b="0" cap="flat">
                <a:solidFill>
                  <a:srgbClr val="555555"/>
                </a:solidFill>
              </a:rPr>
              <a:t>Live shipment tracking by AWB / reference number.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3A5F"/>
          </a:solidFill>
        </p:spPr>
        <p:txBody>
          <a:bodyPr/>
          <a:lstStyle/>
          <a:p>
            <a:r>
              <a:t> </a:t>
            </a:r>
          </a:p>
        </p:txBody>
      </p:sp>
      <p:sp>
        <p:nvSpPr>
          <p:cNvPr id="3" name="tx3"/>
          <p:cNvSpPr/>
          <p:nvPr/>
        </p:nvSpPr>
        <p:spPr>
          <a:xfrm>
            <a:off x="457200" y="109728"/>
            <a:ext cx="11247120" cy="82296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sz="2800" b="1" cap="flat">
                <a:solidFill>
                  <a:srgbClr val="FFFFFF"/>
                </a:solidFill>
              </a:rPr>
              <a:t>Shipping Rate Calculator  ( /shipping-rate-calculator )</a:t>
            </a:r>
          </a:p>
        </p:txBody>
      </p:sp>
      <p:pic>
        <p:nvPicPr>
          <p:cNvPr id="4" name="img4"/>
          <p:cNvPicPr/>
          <p:nvPr/>
        </p:nvPicPr>
        <p:blipFill>
          <a:blip r:embed="rId2"/>
          <a:stretch>
            <a:fillRect/>
          </a:stretch>
        </p:blipFill>
        <p:spPr>
          <a:xfrm>
            <a:off x="2590139" y="1188720"/>
            <a:ext cx="7008672" cy="4617720"/>
          </a:xfrm>
          <a:prstGeom prst="rect">
            <a:avLst/>
          </a:prstGeom>
        </p:spPr>
      </p:pic>
      <p:sp>
        <p:nvSpPr>
          <p:cNvPr id="5" name="tx5"/>
          <p:cNvSpPr/>
          <p:nvPr/>
        </p:nvSpPr>
        <p:spPr>
          <a:xfrm>
            <a:off x="457200" y="5989320"/>
            <a:ext cx="11247120" cy="54864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sz="1600" b="0" cap="flat">
                <a:solidFill>
                  <a:srgbClr val="555555"/>
                </a:solidFill>
              </a:rPr>
              <a:t>Instant rate check by destination, weight and service.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3A5F"/>
          </a:solidFill>
        </p:spPr>
        <p:txBody>
          <a:bodyPr/>
          <a:lstStyle/>
          <a:p>
            <a:r>
              <a:t> </a:t>
            </a:r>
          </a:p>
        </p:txBody>
      </p:sp>
      <p:sp>
        <p:nvSpPr>
          <p:cNvPr id="3" name="tx3"/>
          <p:cNvSpPr/>
          <p:nvPr/>
        </p:nvSpPr>
        <p:spPr>
          <a:xfrm>
            <a:off x="457200" y="109728"/>
            <a:ext cx="11247120" cy="82296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sz="2800" b="1" cap="flat">
                <a:solidFill>
                  <a:srgbClr val="FFFFFF"/>
                </a:solidFill>
              </a:rPr>
              <a:t>Volumetric Calculator  ( /volumetric-calculator )</a:t>
            </a:r>
          </a:p>
        </p:txBody>
      </p:sp>
      <p:pic>
        <p:nvPicPr>
          <p:cNvPr id="4" name="img4"/>
          <p:cNvPicPr/>
          <p:nvPr/>
        </p:nvPicPr>
        <p:blipFill>
          <a:blip r:embed="rId2"/>
          <a:stretch>
            <a:fillRect/>
          </a:stretch>
        </p:blipFill>
        <p:spPr>
          <a:xfrm>
            <a:off x="2590139" y="1188720"/>
            <a:ext cx="7008672" cy="4617720"/>
          </a:xfrm>
          <a:prstGeom prst="rect">
            <a:avLst/>
          </a:prstGeom>
        </p:spPr>
      </p:pic>
      <p:sp>
        <p:nvSpPr>
          <p:cNvPr id="5" name="tx5"/>
          <p:cNvSpPr/>
          <p:nvPr/>
        </p:nvSpPr>
        <p:spPr>
          <a:xfrm>
            <a:off x="457200" y="5989320"/>
            <a:ext cx="11247120" cy="54864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sz="1600" b="0" cap="flat">
                <a:solidFill>
                  <a:srgbClr val="555555"/>
                </a:solidFill>
              </a:rPr>
              <a:t>Volumetric weight calculator for packages.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3A5F"/>
          </a:solidFill>
        </p:spPr>
        <p:txBody>
          <a:bodyPr/>
          <a:lstStyle/>
          <a:p>
            <a:r>
              <a:t> </a:t>
            </a:r>
          </a:p>
        </p:txBody>
      </p:sp>
      <p:sp>
        <p:nvSpPr>
          <p:cNvPr id="3" name="tx3"/>
          <p:cNvSpPr/>
          <p:nvPr/>
        </p:nvSpPr>
        <p:spPr>
          <a:xfrm>
            <a:off x="457200" y="109728"/>
            <a:ext cx="11247120" cy="82296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sz="2800" b="1" cap="flat">
                <a:solidFill>
                  <a:srgbClr val="FFFFFF"/>
                </a:solidFill>
              </a:rPr>
              <a:t>Barcode Generator  ( /barcode-generator )</a:t>
            </a:r>
          </a:p>
        </p:txBody>
      </p:sp>
      <p:pic>
        <p:nvPicPr>
          <p:cNvPr id="4" name="img4"/>
          <p:cNvPicPr/>
          <p:nvPr/>
        </p:nvPicPr>
        <p:blipFill>
          <a:blip r:embed="rId2"/>
          <a:stretch>
            <a:fillRect/>
          </a:stretch>
        </p:blipFill>
        <p:spPr>
          <a:xfrm>
            <a:off x="2590139" y="1188720"/>
            <a:ext cx="7008672" cy="4617720"/>
          </a:xfrm>
          <a:prstGeom prst="rect">
            <a:avLst/>
          </a:prstGeom>
        </p:spPr>
      </p:pic>
      <p:sp>
        <p:nvSpPr>
          <p:cNvPr id="5" name="tx5"/>
          <p:cNvSpPr/>
          <p:nvPr/>
        </p:nvSpPr>
        <p:spPr>
          <a:xfrm>
            <a:off x="457200" y="5989320"/>
            <a:ext cx="11247120" cy="54864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sz="1600" b="0" cap="flat">
                <a:solidFill>
                  <a:srgbClr val="555555"/>
                </a:solidFill>
              </a:rPr>
              <a:t>Free AWB barcode generator tool.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3A5F"/>
          </a:solidFill>
        </p:spPr>
        <p:txBody>
          <a:bodyPr/>
          <a:lstStyle/>
          <a:p>
            <a:r>
              <a:t> </a:t>
            </a:r>
          </a:p>
        </p:txBody>
      </p:sp>
      <p:sp>
        <p:nvSpPr>
          <p:cNvPr id="3" name="tx3"/>
          <p:cNvSpPr/>
          <p:nvPr/>
        </p:nvSpPr>
        <p:spPr>
          <a:xfrm>
            <a:off x="457200" y="109728"/>
            <a:ext cx="11247120" cy="82296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sz="2800" b="1" cap="flat">
                <a:solidFill>
                  <a:srgbClr val="FFFFFF"/>
                </a:solidFill>
              </a:rPr>
              <a:t>HSN Finder  ( /hsn-finder )</a:t>
            </a:r>
          </a:p>
        </p:txBody>
      </p:sp>
      <p:pic>
        <p:nvPicPr>
          <p:cNvPr id="4" name="img4"/>
          <p:cNvPicPr/>
          <p:nvPr/>
        </p:nvPicPr>
        <p:blipFill>
          <a:blip r:embed="rId2"/>
          <a:stretch>
            <a:fillRect/>
          </a:stretch>
        </p:blipFill>
        <p:spPr>
          <a:xfrm>
            <a:off x="2590139" y="1188720"/>
            <a:ext cx="7008672" cy="4617720"/>
          </a:xfrm>
          <a:prstGeom prst="rect">
            <a:avLst/>
          </a:prstGeom>
        </p:spPr>
      </p:pic>
      <p:sp>
        <p:nvSpPr>
          <p:cNvPr id="5" name="tx5"/>
          <p:cNvSpPr/>
          <p:nvPr/>
        </p:nvSpPr>
        <p:spPr>
          <a:xfrm>
            <a:off x="457200" y="5989320"/>
            <a:ext cx="11247120" cy="54864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sz="1600" b="0" cap="flat">
                <a:solidFill>
                  <a:srgbClr val="555555"/>
                </a:solidFill>
              </a:rPr>
              <a:t>HSN code lookup for invoice items.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3A5F"/>
          </a:solidFill>
        </p:spPr>
        <p:txBody>
          <a:bodyPr/>
          <a:lstStyle/>
          <a:p>
            <a:r>
              <a:t> </a:t>
            </a:r>
          </a:p>
        </p:txBody>
      </p:sp>
      <p:sp>
        <p:nvSpPr>
          <p:cNvPr id="3" name="tx3"/>
          <p:cNvSpPr/>
          <p:nvPr/>
        </p:nvSpPr>
        <p:spPr>
          <a:xfrm>
            <a:off x="457200" y="109728"/>
            <a:ext cx="11247120" cy="82296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sz="2800" b="1" cap="flat">
                <a:solidFill>
                  <a:srgbClr val="FFFFFF"/>
                </a:solidFill>
              </a:rPr>
              <a:t>Currency Calculator  ( /currency-calculator )</a:t>
            </a:r>
          </a:p>
        </p:txBody>
      </p:sp>
      <p:pic>
        <p:nvPicPr>
          <p:cNvPr id="4" name="img4"/>
          <p:cNvPicPr/>
          <p:nvPr/>
        </p:nvPicPr>
        <p:blipFill>
          <a:blip r:embed="rId2"/>
          <a:stretch>
            <a:fillRect/>
          </a:stretch>
        </p:blipFill>
        <p:spPr>
          <a:xfrm>
            <a:off x="2590139" y="1188720"/>
            <a:ext cx="7008672" cy="4617720"/>
          </a:xfrm>
          <a:prstGeom prst="rect">
            <a:avLst/>
          </a:prstGeom>
        </p:spPr>
      </p:pic>
      <p:sp>
        <p:nvSpPr>
          <p:cNvPr id="5" name="tx5"/>
          <p:cNvSpPr/>
          <p:nvPr/>
        </p:nvSpPr>
        <p:spPr>
          <a:xfrm>
            <a:off x="457200" y="5989320"/>
            <a:ext cx="11247120" cy="54864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sz="1600" b="0" cap="flat">
                <a:solidFill>
                  <a:srgbClr val="555555"/>
                </a:solidFill>
              </a:rPr>
              <a:t>Currency conversion helper.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3A5F"/>
          </a:solidFill>
        </p:spPr>
        <p:txBody>
          <a:bodyPr/>
          <a:lstStyle/>
          <a:p>
            <a:r>
              <a:t> </a:t>
            </a:r>
          </a:p>
        </p:txBody>
      </p:sp>
      <p:sp>
        <p:nvSpPr>
          <p:cNvPr id="3" name="tx3"/>
          <p:cNvSpPr/>
          <p:nvPr/>
        </p:nvSpPr>
        <p:spPr>
          <a:xfrm>
            <a:off x="457200" y="109728"/>
            <a:ext cx="11247120" cy="82296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sz="2800" b="1" cap="flat">
                <a:solidFill>
                  <a:srgbClr val="FFFFFF"/>
                </a:solidFill>
              </a:rPr>
              <a:t>Blogs  ( /blogs )</a:t>
            </a:r>
          </a:p>
        </p:txBody>
      </p:sp>
      <p:pic>
        <p:nvPicPr>
          <p:cNvPr id="4" name="img4"/>
          <p:cNvPicPr/>
          <p:nvPr/>
        </p:nvPicPr>
        <p:blipFill>
          <a:blip r:embed="rId2"/>
          <a:stretch>
            <a:fillRect/>
          </a:stretch>
        </p:blipFill>
        <p:spPr>
          <a:xfrm>
            <a:off x="2590139" y="1188720"/>
            <a:ext cx="7008672" cy="4617720"/>
          </a:xfrm>
          <a:prstGeom prst="rect">
            <a:avLst/>
          </a:prstGeom>
        </p:spPr>
      </p:pic>
      <p:sp>
        <p:nvSpPr>
          <p:cNvPr id="5" name="tx5"/>
          <p:cNvSpPr/>
          <p:nvPr/>
        </p:nvSpPr>
        <p:spPr>
          <a:xfrm>
            <a:off x="457200" y="5989320"/>
            <a:ext cx="11247120" cy="54864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sz="1600" b="0" cap="flat">
                <a:solidFill>
                  <a:srgbClr val="555555"/>
                </a:solidFill>
              </a:rPr>
              <a:t>News, guides and logistics articles.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3A5F"/>
          </a:solidFill>
        </p:spPr>
        <p:txBody>
          <a:bodyPr/>
          <a:lstStyle/>
          <a:p>
            <a:r>
              <a:t> </a:t>
            </a:r>
          </a:p>
        </p:txBody>
      </p:sp>
      <p:sp>
        <p:nvSpPr>
          <p:cNvPr id="3" name="tx3"/>
          <p:cNvSpPr/>
          <p:nvPr/>
        </p:nvSpPr>
        <p:spPr>
          <a:xfrm>
            <a:off x="457200" y="109728"/>
            <a:ext cx="11247120" cy="82296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sz="2800" b="1" cap="flat">
                <a:solidFill>
                  <a:srgbClr val="FFFFFF"/>
                </a:solidFill>
              </a:rPr>
              <a:t>Contact Us  ( /contact-us )</a:t>
            </a:r>
          </a:p>
        </p:txBody>
      </p:sp>
      <p:pic>
        <p:nvPicPr>
          <p:cNvPr id="4" name="img4"/>
          <p:cNvPicPr/>
          <p:nvPr/>
        </p:nvPicPr>
        <p:blipFill>
          <a:blip r:embed="rId2"/>
          <a:stretch>
            <a:fillRect/>
          </a:stretch>
        </p:blipFill>
        <p:spPr>
          <a:xfrm>
            <a:off x="2590139" y="1188720"/>
            <a:ext cx="7008672" cy="4617720"/>
          </a:xfrm>
          <a:prstGeom prst="rect">
            <a:avLst/>
          </a:prstGeom>
        </p:spPr>
      </p:pic>
      <p:sp>
        <p:nvSpPr>
          <p:cNvPr id="5" name="tx5"/>
          <p:cNvSpPr/>
          <p:nvPr/>
        </p:nvSpPr>
        <p:spPr>
          <a:xfrm>
            <a:off x="457200" y="5989320"/>
            <a:ext cx="11247120" cy="54864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sz="1600" b="0" cap="flat">
                <a:solidFill>
                  <a:srgbClr val="555555"/>
                </a:solidFill>
              </a:rPr>
              <a:t>Enquiry form and contact details.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3A5F"/>
          </a:solidFill>
        </p:spPr>
        <p:txBody>
          <a:bodyPr/>
          <a:lstStyle/>
          <a:p>
            <a:r>
              <a:t> </a:t>
            </a:r>
          </a:p>
        </p:txBody>
      </p:sp>
      <p:sp>
        <p:nvSpPr>
          <p:cNvPr id="3" name="tx3"/>
          <p:cNvSpPr/>
          <p:nvPr/>
        </p:nvSpPr>
        <p:spPr>
          <a:xfrm>
            <a:off x="457200" y="109728"/>
            <a:ext cx="11247120" cy="82296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sz="2800" b="1" cap="flat">
                <a:solidFill>
                  <a:srgbClr val="FFFFFF"/>
                </a:solidFill>
              </a:rPr>
              <a:t>Customer Login  ( /login )</a:t>
            </a:r>
          </a:p>
        </p:txBody>
      </p:sp>
      <p:pic>
        <p:nvPicPr>
          <p:cNvPr id="4" name="img4"/>
          <p:cNvPicPr/>
          <p:nvPr/>
        </p:nvPicPr>
        <p:blipFill>
          <a:blip r:embed="rId2"/>
          <a:stretch>
            <a:fillRect/>
          </a:stretch>
        </p:blipFill>
        <p:spPr>
          <a:xfrm>
            <a:off x="2590139" y="1188720"/>
            <a:ext cx="7008672" cy="4617720"/>
          </a:xfrm>
          <a:prstGeom prst="rect">
            <a:avLst/>
          </a:prstGeom>
        </p:spPr>
      </p:pic>
      <p:sp>
        <p:nvSpPr>
          <p:cNvPr id="5" name="tx5"/>
          <p:cNvSpPr/>
          <p:nvPr/>
        </p:nvSpPr>
        <p:spPr>
          <a:xfrm>
            <a:off x="457200" y="5989320"/>
            <a:ext cx="11247120" cy="54864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sz="1600" b="0" cap="flat">
                <a:solidFill>
                  <a:srgbClr val="555555"/>
                </a:solidFill>
              </a:rPr>
              <a:t>Customer portal entry point.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3A5F"/>
          </a:solidFill>
        </p:spPr>
        <p:txBody>
          <a:bodyPr/>
          <a:lstStyle/>
          <a:p>
            <a:r>
              <a:t> </a:t>
            </a:r>
          </a:p>
        </p:txBody>
      </p:sp>
      <p:sp>
        <p:nvSpPr>
          <p:cNvPr id="3" name="tx3"/>
          <p:cNvSpPr/>
          <p:nvPr/>
        </p:nvSpPr>
        <p:spPr>
          <a:xfrm>
            <a:off x="457200" y="109728"/>
            <a:ext cx="11247120" cy="82296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sz="2800" b="1" cap="flat">
                <a:solidFill>
                  <a:srgbClr val="FFFFFF"/>
                </a:solidFill>
              </a:rPr>
              <a:t>Customer Registration  ( /get-started )</a:t>
            </a:r>
          </a:p>
        </p:txBody>
      </p:sp>
      <p:pic>
        <p:nvPicPr>
          <p:cNvPr id="4" name="img4"/>
          <p:cNvPicPr/>
          <p:nvPr/>
        </p:nvPicPr>
        <p:blipFill>
          <a:blip r:embed="rId2"/>
          <a:stretch>
            <a:fillRect/>
          </a:stretch>
        </p:blipFill>
        <p:spPr>
          <a:xfrm>
            <a:off x="2590139" y="1188720"/>
            <a:ext cx="7008672" cy="4617720"/>
          </a:xfrm>
          <a:prstGeom prst="rect">
            <a:avLst/>
          </a:prstGeom>
        </p:spPr>
      </p:pic>
      <p:sp>
        <p:nvSpPr>
          <p:cNvPr id="5" name="tx5"/>
          <p:cNvSpPr/>
          <p:nvPr/>
        </p:nvSpPr>
        <p:spPr>
          <a:xfrm>
            <a:off x="457200" y="5989320"/>
            <a:ext cx="11247120" cy="54864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sz="1600" b="0" cap="flat">
                <a:solidFill>
                  <a:srgbClr val="555555"/>
                </a:solidFill>
              </a:rPr>
              <a:t>New customer onboarding with KYC.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3A5F"/>
          </a:solidFill>
        </p:spPr>
        <p:txBody>
          <a:bodyPr/>
          <a:lstStyle/>
          <a:p>
            <a:r>
              <a:t> </a:t>
            </a:r>
          </a:p>
        </p:txBody>
      </p:sp>
      <p:sp>
        <p:nvSpPr>
          <p:cNvPr id="3" name="tx3"/>
          <p:cNvSpPr/>
          <p:nvPr/>
        </p:nvSpPr>
        <p:spPr>
          <a:xfrm>
            <a:off x="457200" y="109728"/>
            <a:ext cx="11247120" cy="82296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sz="2800" b="1" cap="flat">
                <a:solidFill>
                  <a:srgbClr val="FFFFFF"/>
                </a:solidFill>
              </a:rPr>
              <a:t>Admin Login  ( /admin )</a:t>
            </a:r>
          </a:p>
        </p:txBody>
      </p:sp>
      <p:pic>
        <p:nvPicPr>
          <p:cNvPr id="4" name="img4"/>
          <p:cNvPicPr/>
          <p:nvPr/>
        </p:nvPicPr>
        <p:blipFill>
          <a:blip r:embed="rId2"/>
          <a:stretch>
            <a:fillRect/>
          </a:stretch>
        </p:blipFill>
        <p:spPr>
          <a:xfrm>
            <a:off x="2590139" y="1188720"/>
            <a:ext cx="7008672" cy="4617720"/>
          </a:xfrm>
          <a:prstGeom prst="rect">
            <a:avLst/>
          </a:prstGeom>
        </p:spPr>
      </p:pic>
      <p:sp>
        <p:nvSpPr>
          <p:cNvPr id="5" name="tx5"/>
          <p:cNvSpPr/>
          <p:nvPr/>
        </p:nvSpPr>
        <p:spPr>
          <a:xfrm>
            <a:off x="457200" y="5989320"/>
            <a:ext cx="11247120" cy="54864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sz="1600" b="0" cap="flat">
                <a:solidFill>
                  <a:srgbClr val="555555"/>
                </a:solidFill>
              </a:rPr>
              <a:t>Back-office admin entry point.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3A5F"/>
          </a:solidFill>
        </p:spPr>
        <p:txBody>
          <a:bodyPr/>
          <a:lstStyle/>
          <a:p>
            <a:r>
              <a:t> </a:t>
            </a:r>
          </a:p>
        </p:txBody>
      </p:sp>
      <p:sp>
        <p:nvSpPr>
          <p:cNvPr id="3" name="tx3"/>
          <p:cNvSpPr/>
          <p:nvPr/>
        </p:nvSpPr>
        <p:spPr>
          <a:xfrm>
            <a:off x="457200" y="109728"/>
            <a:ext cx="11247120" cy="82296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sz="3200" b="1" cap="flat">
                <a:solidFill>
                  <a:srgbClr val="FFFFFF"/>
                </a:solidFill>
              </a:rPr>
              <a:t>Customer Panel (login required)</a:t>
            </a:r>
          </a:p>
        </p:txBody>
      </p:sp>
      <p:sp>
        <p:nvSpPr>
          <p:cNvPr id="4" name="bul4"/>
          <p:cNvSpPr/>
          <p:nvPr/>
        </p:nvSpPr>
        <p:spPr>
          <a:xfrm>
            <a:off x="640080" y="1463040"/>
            <a:ext cx="10881360" cy="4937760"/>
          </a:xfrm>
          <a:prstGeom prst="rect">
            <a:avLst/>
          </a:prstGeom>
        </p:spPr>
        <p:txBody>
          <a:bodyPr/>
          <a:lstStyle/>
          <a:p>
            <a:pPr marL="228600" indent="-228600">
              <a:buChar char="•"/>
            </a:pPr>
            <a:r>
              <a:rPr lang="en-US" sz="2000" cap="flat">
                <a:solidFill>
                  <a:srgbClr val="333333"/>
                </a:solidFill>
              </a:rPr>
              <a:t>Create Shipment — shipper, consignee, invoice items, saved consignees</a:t>
            </a:r>
          </a:p>
          <a:p>
            <a:pPr marL="228600" indent="-228600">
              <a:buChar char="•"/>
            </a:pPr>
            <a:r>
              <a:rPr lang="en-US" sz="2000" cap="flat">
                <a:solidFill>
                  <a:srgbClr val="333333"/>
                </a:solidFill>
              </a:rPr>
              <a:t>Bulk Upload — Excel shipments with preview, zone-wise rates, validations</a:t>
            </a:r>
          </a:p>
          <a:p>
            <a:pPr marL="228600" indent="-228600">
              <a:buChar char="•"/>
            </a:pPr>
            <a:r>
              <a:rPr lang="en-US" sz="2000" cap="flat">
                <a:solidFill>
                  <a:srgbClr val="333333"/>
                </a:solidFill>
              </a:rPr>
              <a:t>View All Shipments — print label (A4 + 4x6), pay, pack, manifest</a:t>
            </a:r>
          </a:p>
          <a:p>
            <a:pPr marL="228600" indent="-228600">
              <a:buChar char="•"/>
            </a:pPr>
            <a:r>
              <a:rPr lang="en-US" sz="2000" cap="flat">
                <a:solidFill>
                  <a:srgbClr val="333333"/>
                </a:solidFill>
              </a:rPr>
              <a:t>Manifests — detail, label, document, close, assign for pickup</a:t>
            </a:r>
          </a:p>
          <a:p>
            <a:pPr marL="228600" indent="-228600">
              <a:buChar char="•"/>
            </a:pPr>
            <a:r>
              <a:rPr lang="en-US" sz="2000" cap="flat">
                <a:solidFill>
                  <a:srgbClr val="333333"/>
                </a:solidFill>
              </a:rPr>
              <a:t>Wallet — recharge, transactions, shipment-wise deduction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3A5F"/>
          </a:solidFill>
        </p:spPr>
        <p:txBody>
          <a:bodyPr/>
          <a:lstStyle/>
          <a:p>
            <a:r>
              <a:t> </a:t>
            </a:r>
          </a:p>
        </p:txBody>
      </p:sp>
      <p:sp>
        <p:nvSpPr>
          <p:cNvPr id="3" name="tx3"/>
          <p:cNvSpPr/>
          <p:nvPr/>
        </p:nvSpPr>
        <p:spPr>
          <a:xfrm>
            <a:off x="457200" y="109728"/>
            <a:ext cx="11247120" cy="82296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sz="2800" b="1" cap="flat">
                <a:solidFill>
                  <a:srgbClr val="FFFFFF"/>
                </a:solidFill>
              </a:rPr>
              <a:t>Customer Dashboard</a:t>
            </a:r>
          </a:p>
        </p:txBody>
      </p:sp>
      <p:pic>
        <p:nvPicPr>
          <p:cNvPr id="4" name="img4"/>
          <p:cNvPicPr/>
          <p:nvPr/>
        </p:nvPicPr>
        <p:blipFill>
          <a:blip r:embed="rId2"/>
          <a:stretch>
            <a:fillRect/>
          </a:stretch>
        </p:blipFill>
        <p:spPr>
          <a:xfrm>
            <a:off x="2590139" y="1188720"/>
            <a:ext cx="7008672" cy="4617720"/>
          </a:xfrm>
          <a:prstGeom prst="rect">
            <a:avLst/>
          </a:prstGeom>
        </p:spPr>
      </p:pic>
      <p:sp>
        <p:nvSpPr>
          <p:cNvPr id="5" name="tx5"/>
          <p:cNvSpPr/>
          <p:nvPr/>
        </p:nvSpPr>
        <p:spPr>
          <a:xfrm>
            <a:off x="457200" y="5989320"/>
            <a:ext cx="11247120" cy="54864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sz="1600" b="0" cap="flat">
                <a:solidFill>
                  <a:srgbClr val="555555"/>
                </a:solidFill>
              </a:rPr>
              <a:t>Shipment stats, analytics, wallet balance and quick actions.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3A5F"/>
          </a:solidFill>
        </p:spPr>
        <p:txBody>
          <a:bodyPr/>
          <a:lstStyle/>
          <a:p>
            <a:r>
              <a:t> </a:t>
            </a:r>
          </a:p>
        </p:txBody>
      </p:sp>
      <p:sp>
        <p:nvSpPr>
          <p:cNvPr id="3" name="tx3"/>
          <p:cNvSpPr/>
          <p:nvPr/>
        </p:nvSpPr>
        <p:spPr>
          <a:xfrm>
            <a:off x="457200" y="109728"/>
            <a:ext cx="11247120" cy="82296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sz="2800" b="1" cap="flat">
                <a:solidFill>
                  <a:srgbClr val="FFFFFF"/>
                </a:solidFill>
              </a:rPr>
              <a:t>Customer — Create Shipment</a:t>
            </a:r>
          </a:p>
        </p:txBody>
      </p:sp>
      <p:pic>
        <p:nvPicPr>
          <p:cNvPr id="4" name="img4"/>
          <p:cNvPicPr/>
          <p:nvPr/>
        </p:nvPicPr>
        <p:blipFill>
          <a:blip r:embed="rId2"/>
          <a:stretch>
            <a:fillRect/>
          </a:stretch>
        </p:blipFill>
        <p:spPr>
          <a:xfrm>
            <a:off x="2590139" y="1188720"/>
            <a:ext cx="7008672" cy="4617720"/>
          </a:xfrm>
          <a:prstGeom prst="rect">
            <a:avLst/>
          </a:prstGeom>
        </p:spPr>
      </p:pic>
      <p:sp>
        <p:nvSpPr>
          <p:cNvPr id="5" name="tx5"/>
          <p:cNvSpPr/>
          <p:nvPr/>
        </p:nvSpPr>
        <p:spPr>
          <a:xfrm>
            <a:off x="457200" y="5989320"/>
            <a:ext cx="11247120" cy="54864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sz="1600" b="0" cap="flat">
                <a:solidFill>
                  <a:srgbClr val="555555"/>
                </a:solidFill>
              </a:rPr>
              <a:t>Shipper info form with warehouse, exporter-customer and CSB prefill.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3A5F"/>
          </a:solidFill>
        </p:spPr>
        <p:txBody>
          <a:bodyPr/>
          <a:lstStyle/>
          <a:p>
            <a:r>
              <a:t> </a:t>
            </a:r>
          </a:p>
        </p:txBody>
      </p:sp>
      <p:sp>
        <p:nvSpPr>
          <p:cNvPr id="3" name="tx3"/>
          <p:cNvSpPr/>
          <p:nvPr/>
        </p:nvSpPr>
        <p:spPr>
          <a:xfrm>
            <a:off x="457200" y="109728"/>
            <a:ext cx="11247120" cy="82296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sz="2800" b="1" cap="flat">
                <a:solidFill>
                  <a:srgbClr val="FFFFFF"/>
                </a:solidFill>
              </a:rPr>
              <a:t>Customer — View All Shipments</a:t>
            </a:r>
          </a:p>
        </p:txBody>
      </p:sp>
      <p:pic>
        <p:nvPicPr>
          <p:cNvPr id="4" name="img4"/>
          <p:cNvPicPr/>
          <p:nvPr/>
        </p:nvPicPr>
        <p:blipFill>
          <a:blip r:embed="rId2"/>
          <a:stretch>
            <a:fillRect/>
          </a:stretch>
        </p:blipFill>
        <p:spPr>
          <a:xfrm>
            <a:off x="2590139" y="1188720"/>
            <a:ext cx="7008672" cy="4617720"/>
          </a:xfrm>
          <a:prstGeom prst="rect">
            <a:avLst/>
          </a:prstGeom>
        </p:spPr>
      </p:pic>
      <p:sp>
        <p:nvSpPr>
          <p:cNvPr id="5" name="tx5"/>
          <p:cNvSpPr/>
          <p:nvPr/>
        </p:nvSpPr>
        <p:spPr>
          <a:xfrm>
            <a:off x="457200" y="5989320"/>
            <a:ext cx="11247120" cy="54864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sz="1600" b="0" cap="flat">
                <a:solidFill>
                  <a:srgbClr val="555555"/>
                </a:solidFill>
              </a:rPr>
              <a:t>All shipments with print, pay, pack and manifest actions.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3A5F"/>
          </a:solidFill>
        </p:spPr>
        <p:txBody>
          <a:bodyPr/>
          <a:lstStyle/>
          <a:p>
            <a:r>
              <a:t> </a:t>
            </a:r>
          </a:p>
        </p:txBody>
      </p:sp>
      <p:sp>
        <p:nvSpPr>
          <p:cNvPr id="3" name="tx3"/>
          <p:cNvSpPr/>
          <p:nvPr/>
        </p:nvSpPr>
        <p:spPr>
          <a:xfrm>
            <a:off x="457200" y="109728"/>
            <a:ext cx="11247120" cy="82296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sz="2800" b="1" cap="flat">
                <a:solidFill>
                  <a:srgbClr val="FFFFFF"/>
                </a:solidFill>
              </a:rPr>
              <a:t>Customer — Bulk Upload</a:t>
            </a:r>
          </a:p>
        </p:txBody>
      </p:sp>
      <p:pic>
        <p:nvPicPr>
          <p:cNvPr id="4" name="img4"/>
          <p:cNvPicPr/>
          <p:nvPr/>
        </p:nvPicPr>
        <p:blipFill>
          <a:blip r:embed="rId2"/>
          <a:stretch>
            <a:fillRect/>
          </a:stretch>
        </p:blipFill>
        <p:spPr>
          <a:xfrm>
            <a:off x="2590139" y="1188720"/>
            <a:ext cx="7008672" cy="4617720"/>
          </a:xfrm>
          <a:prstGeom prst="rect">
            <a:avLst/>
          </a:prstGeom>
        </p:spPr>
      </p:pic>
      <p:sp>
        <p:nvSpPr>
          <p:cNvPr id="5" name="tx5"/>
          <p:cNvSpPr/>
          <p:nvPr/>
        </p:nvSpPr>
        <p:spPr>
          <a:xfrm>
            <a:off x="457200" y="5989320"/>
            <a:ext cx="11247120" cy="54864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sz="1600" b="0" cap="flat">
                <a:solidFill>
                  <a:srgbClr val="555555"/>
                </a:solidFill>
              </a:rPr>
              <a:t>Excel bulk shipment upload with preview and validations.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3A5F"/>
          </a:solidFill>
        </p:spPr>
        <p:txBody>
          <a:bodyPr/>
          <a:lstStyle/>
          <a:p>
            <a:r>
              <a:t> </a:t>
            </a:r>
          </a:p>
        </p:txBody>
      </p:sp>
      <p:sp>
        <p:nvSpPr>
          <p:cNvPr id="3" name="tx3"/>
          <p:cNvSpPr/>
          <p:nvPr/>
        </p:nvSpPr>
        <p:spPr>
          <a:xfrm>
            <a:off x="457200" y="109728"/>
            <a:ext cx="11247120" cy="82296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sz="2800" b="1" cap="flat">
                <a:solidFill>
                  <a:srgbClr val="FFFFFF"/>
                </a:solidFill>
              </a:rPr>
              <a:t>Customer — KYC Personal</a:t>
            </a:r>
          </a:p>
        </p:txBody>
      </p:sp>
      <p:pic>
        <p:nvPicPr>
          <p:cNvPr id="4" name="img4"/>
          <p:cNvPicPr/>
          <p:nvPr/>
        </p:nvPicPr>
        <p:blipFill>
          <a:blip r:embed="rId2"/>
          <a:stretch>
            <a:fillRect/>
          </a:stretch>
        </p:blipFill>
        <p:spPr>
          <a:xfrm>
            <a:off x="2590139" y="1188720"/>
            <a:ext cx="7008672" cy="4617720"/>
          </a:xfrm>
          <a:prstGeom prst="rect">
            <a:avLst/>
          </a:prstGeom>
        </p:spPr>
      </p:pic>
      <p:sp>
        <p:nvSpPr>
          <p:cNvPr id="5" name="tx5"/>
          <p:cNvSpPr/>
          <p:nvPr/>
        </p:nvSpPr>
        <p:spPr>
          <a:xfrm>
            <a:off x="457200" y="5989320"/>
            <a:ext cx="11247120" cy="54864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sz="1600" b="0" cap="flat">
                <a:solidFill>
                  <a:srgbClr val="555555"/>
                </a:solidFill>
              </a:rPr>
              <a:t>Personal KYC submission with document verification.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3A5F"/>
          </a:solidFill>
        </p:spPr>
        <p:txBody>
          <a:bodyPr/>
          <a:lstStyle/>
          <a:p>
            <a:r>
              <a:t> </a:t>
            </a:r>
          </a:p>
        </p:txBody>
      </p:sp>
      <p:sp>
        <p:nvSpPr>
          <p:cNvPr id="3" name="tx3"/>
          <p:cNvSpPr/>
          <p:nvPr/>
        </p:nvSpPr>
        <p:spPr>
          <a:xfrm>
            <a:off x="457200" y="109728"/>
            <a:ext cx="11247120" cy="82296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sz="2800" b="1" cap="flat">
                <a:solidFill>
                  <a:srgbClr val="FFFFFF"/>
                </a:solidFill>
              </a:rPr>
              <a:t>Customer — Un-Manifest Report</a:t>
            </a:r>
          </a:p>
        </p:txBody>
      </p:sp>
      <p:pic>
        <p:nvPicPr>
          <p:cNvPr id="4" name="img4"/>
          <p:cNvPicPr/>
          <p:nvPr/>
        </p:nvPicPr>
        <p:blipFill>
          <a:blip r:embed="rId2"/>
          <a:stretch>
            <a:fillRect/>
          </a:stretch>
        </p:blipFill>
        <p:spPr>
          <a:xfrm>
            <a:off x="2590139" y="1188720"/>
            <a:ext cx="7008672" cy="4617720"/>
          </a:xfrm>
          <a:prstGeom prst="rect">
            <a:avLst/>
          </a:prstGeom>
        </p:spPr>
      </p:pic>
      <p:sp>
        <p:nvSpPr>
          <p:cNvPr id="5" name="tx5"/>
          <p:cNvSpPr/>
          <p:nvPr/>
        </p:nvSpPr>
        <p:spPr>
          <a:xfrm>
            <a:off x="457200" y="5989320"/>
            <a:ext cx="11247120" cy="54864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sz="1600" b="0" cap="flat">
                <a:solidFill>
                  <a:srgbClr val="555555"/>
                </a:solidFill>
              </a:rPr>
              <a:t>Draft/ready/packed (un-manifested) shipments report.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3A5F"/>
          </a:solidFill>
        </p:spPr>
        <p:txBody>
          <a:bodyPr/>
          <a:lstStyle/>
          <a:p>
            <a:r>
              <a:t> </a:t>
            </a:r>
          </a:p>
        </p:txBody>
      </p:sp>
      <p:sp>
        <p:nvSpPr>
          <p:cNvPr id="3" name="tx3"/>
          <p:cNvSpPr/>
          <p:nvPr/>
        </p:nvSpPr>
        <p:spPr>
          <a:xfrm>
            <a:off x="457200" y="109728"/>
            <a:ext cx="11247120" cy="82296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sz="3200" b="1" cap="flat">
                <a:solidFill>
                  <a:srgbClr val="FFFFFF"/>
                </a:solidFill>
              </a:rPr>
              <a:t>Admin Panel (login required)</a:t>
            </a:r>
          </a:p>
        </p:txBody>
      </p:sp>
      <p:sp>
        <p:nvSpPr>
          <p:cNvPr id="4" name="bul4"/>
          <p:cNvSpPr/>
          <p:nvPr/>
        </p:nvSpPr>
        <p:spPr>
          <a:xfrm>
            <a:off x="640080" y="1463040"/>
            <a:ext cx="10881360" cy="4937760"/>
          </a:xfrm>
          <a:prstGeom prst="rect">
            <a:avLst/>
          </a:prstGeom>
        </p:spPr>
        <p:txBody>
          <a:bodyPr/>
          <a:lstStyle/>
          <a:p>
            <a:pPr marL="228600" indent="-228600">
              <a:buChar char="•"/>
            </a:pPr>
            <a:r>
              <a:rPr lang="en-US" sz="2000" cap="flat">
                <a:solidFill>
                  <a:srgbClr val="333333"/>
                </a:solidFill>
              </a:rPr>
              <a:t>Manage Orders — all orders, dispute, cancel, not-received, NOT_IMPLEMENTED data</a:t>
            </a:r>
          </a:p>
          <a:p>
            <a:pPr marL="228600" indent="-228600">
              <a:buChar char="•"/>
            </a:pPr>
            <a:r>
              <a:rPr lang="en-US" sz="2000" cap="flat">
                <a:solidFill>
                  <a:srgbClr val="333333"/>
                </a:solidFill>
              </a:rPr>
              <a:t>Manage COD / Prepaid — create order, all orders, manifests, labels</a:t>
            </a:r>
          </a:p>
          <a:p>
            <a:pPr marL="228600" indent="-228600">
              <a:buChar char="•"/>
            </a:pPr>
            <a:r>
              <a:rPr lang="en-US" sz="2000" cap="flat">
                <a:solidFill>
                  <a:srgbClr val="333333"/>
                </a:solidFill>
              </a:rPr>
              <a:t>Rates — upload/match courier rates, zones, countries</a:t>
            </a:r>
          </a:p>
          <a:p>
            <a:pPr marL="228600" indent="-228600">
              <a:buChar char="•"/>
            </a:pPr>
            <a:r>
              <a:rPr lang="en-US" sz="2000" cap="flat">
                <a:solidFill>
                  <a:srgbClr val="333333"/>
                </a:solidFill>
              </a:rPr>
              <a:t>Wallet — customer recharge, transactions, dispute deductions</a:t>
            </a:r>
          </a:p>
          <a:p>
            <a:pPr marL="228600" indent="-228600">
              <a:buChar char="•"/>
            </a:pPr>
            <a:r>
              <a:rPr lang="en-US" sz="2000" cap="flat">
                <a:solidFill>
                  <a:srgbClr val="333333"/>
                </a:solidFill>
              </a:rPr>
              <a:t>Website CMS — home, blogs, calculators, barcode generator content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3A5F"/>
          </a:solidFill>
        </p:spPr>
        <p:txBody>
          <a:bodyPr/>
          <a:lstStyle/>
          <a:p>
            <a:r>
              <a:t> </a:t>
            </a:r>
          </a:p>
        </p:txBody>
      </p:sp>
      <p:sp>
        <p:nvSpPr>
          <p:cNvPr id="3" name="tx3"/>
          <p:cNvSpPr/>
          <p:nvPr/>
        </p:nvSpPr>
        <p:spPr>
          <a:xfrm>
            <a:off x="457200" y="109728"/>
            <a:ext cx="11247120" cy="82296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sz="2800" b="1" cap="flat">
                <a:solidFill>
                  <a:srgbClr val="FFFFFF"/>
                </a:solidFill>
              </a:rPr>
              <a:t>Admin Dashboard</a:t>
            </a:r>
          </a:p>
        </p:txBody>
      </p:sp>
      <p:pic>
        <p:nvPicPr>
          <p:cNvPr id="4" name="img4"/>
          <p:cNvPicPr/>
          <p:nvPr/>
        </p:nvPicPr>
        <p:blipFill>
          <a:blip r:embed="rId2"/>
          <a:stretch>
            <a:fillRect/>
          </a:stretch>
        </p:blipFill>
        <p:spPr>
          <a:xfrm>
            <a:off x="2590139" y="1188720"/>
            <a:ext cx="7008672" cy="4617720"/>
          </a:xfrm>
          <a:prstGeom prst="rect">
            <a:avLst/>
          </a:prstGeom>
        </p:spPr>
      </p:pic>
      <p:sp>
        <p:nvSpPr>
          <p:cNvPr id="5" name="tx5"/>
          <p:cNvSpPr/>
          <p:nvPr/>
        </p:nvSpPr>
        <p:spPr>
          <a:xfrm>
            <a:off x="457200" y="5989320"/>
            <a:ext cx="11247120" cy="54864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sz="1600" b="0" cap="flat">
                <a:solidFill>
                  <a:srgbClr val="555555"/>
                </a:solidFill>
              </a:rPr>
              <a:t>Network-wide stats, pickup/dispatch live status and shortcuts.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3A5F"/>
          </a:solidFill>
        </p:spPr>
        <p:txBody>
          <a:bodyPr/>
          <a:lstStyle/>
          <a:p>
            <a:r>
              <a:t> </a:t>
            </a:r>
          </a:p>
        </p:txBody>
      </p:sp>
      <p:sp>
        <p:nvSpPr>
          <p:cNvPr id="3" name="tx3"/>
          <p:cNvSpPr/>
          <p:nvPr/>
        </p:nvSpPr>
        <p:spPr>
          <a:xfrm>
            <a:off x="457200" y="109728"/>
            <a:ext cx="11247120" cy="82296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sz="2800" b="1" cap="flat">
                <a:solidFill>
                  <a:srgbClr val="FFFFFF"/>
                </a:solidFill>
              </a:rPr>
              <a:t>Admin — All Orders (Companies)</a:t>
            </a:r>
          </a:p>
        </p:txBody>
      </p:sp>
      <p:pic>
        <p:nvPicPr>
          <p:cNvPr id="4" name="img4"/>
          <p:cNvPicPr/>
          <p:nvPr/>
        </p:nvPicPr>
        <p:blipFill>
          <a:blip r:embed="rId2"/>
          <a:stretch>
            <a:fillRect/>
          </a:stretch>
        </p:blipFill>
        <p:spPr>
          <a:xfrm>
            <a:off x="2590139" y="1188720"/>
            <a:ext cx="7008672" cy="4617720"/>
          </a:xfrm>
          <a:prstGeom prst="rect">
            <a:avLst/>
          </a:prstGeom>
        </p:spPr>
      </p:pic>
      <p:sp>
        <p:nvSpPr>
          <p:cNvPr id="5" name="tx5"/>
          <p:cNvSpPr/>
          <p:nvPr/>
        </p:nvSpPr>
        <p:spPr>
          <a:xfrm>
            <a:off x="457200" y="5989320"/>
            <a:ext cx="11247120" cy="54864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sz="1600" b="0" cap="flat">
                <a:solidFill>
                  <a:srgbClr val="555555"/>
                </a:solidFill>
              </a:rPr>
              <a:t>Every shipment with pickup, receive and dispatch actions.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3A5F"/>
          </a:solidFill>
        </p:spPr>
        <p:txBody>
          <a:bodyPr/>
          <a:lstStyle/>
          <a:p>
            <a:r>
              <a:t> </a:t>
            </a:r>
          </a:p>
        </p:txBody>
      </p:sp>
      <p:sp>
        <p:nvSpPr>
          <p:cNvPr id="3" name="tx3"/>
          <p:cNvSpPr/>
          <p:nvPr/>
        </p:nvSpPr>
        <p:spPr>
          <a:xfrm>
            <a:off x="457200" y="109728"/>
            <a:ext cx="11247120" cy="82296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sz="2800" b="1" cap="flat">
                <a:solidFill>
                  <a:srgbClr val="FFFFFF"/>
                </a:solidFill>
              </a:rPr>
              <a:t>Admin — COD All Orders</a:t>
            </a:r>
          </a:p>
        </p:txBody>
      </p:sp>
      <p:pic>
        <p:nvPicPr>
          <p:cNvPr id="4" name="img4"/>
          <p:cNvPicPr/>
          <p:nvPr/>
        </p:nvPicPr>
        <p:blipFill>
          <a:blip r:embed="rId2"/>
          <a:stretch>
            <a:fillRect/>
          </a:stretch>
        </p:blipFill>
        <p:spPr>
          <a:xfrm>
            <a:off x="2590139" y="1188720"/>
            <a:ext cx="7008672" cy="4617720"/>
          </a:xfrm>
          <a:prstGeom prst="rect">
            <a:avLst/>
          </a:prstGeom>
        </p:spPr>
      </p:pic>
      <p:sp>
        <p:nvSpPr>
          <p:cNvPr id="5" name="tx5"/>
          <p:cNvSpPr/>
          <p:nvPr/>
        </p:nvSpPr>
        <p:spPr>
          <a:xfrm>
            <a:off x="457200" y="5989320"/>
            <a:ext cx="11247120" cy="54864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sz="1600" b="0" cap="flat">
                <a:solidFill>
                  <a:srgbClr val="555555"/>
                </a:solidFill>
              </a:rPr>
              <a:t>Cash-on-delivery orders with labels and close-order flow.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3A5F"/>
          </a:solidFill>
        </p:spPr>
        <p:txBody>
          <a:bodyPr/>
          <a:lstStyle/>
          <a:p>
            <a:r>
              <a:t> </a:t>
            </a:r>
          </a:p>
        </p:txBody>
      </p:sp>
      <p:sp>
        <p:nvSpPr>
          <p:cNvPr id="3" name="tx3"/>
          <p:cNvSpPr/>
          <p:nvPr/>
        </p:nvSpPr>
        <p:spPr>
          <a:xfrm>
            <a:off x="457200" y="109728"/>
            <a:ext cx="11247120" cy="82296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sz="2800" b="1" cap="flat">
                <a:solidFill>
                  <a:srgbClr val="FFFFFF"/>
                </a:solidFill>
              </a:rPr>
              <a:t>Admin — COD Create Order</a:t>
            </a:r>
          </a:p>
        </p:txBody>
      </p:sp>
      <p:pic>
        <p:nvPicPr>
          <p:cNvPr id="4" name="img4"/>
          <p:cNvPicPr/>
          <p:nvPr/>
        </p:nvPicPr>
        <p:blipFill>
          <a:blip r:embed="rId2"/>
          <a:stretch>
            <a:fillRect/>
          </a:stretch>
        </p:blipFill>
        <p:spPr>
          <a:xfrm>
            <a:off x="2590139" y="1188720"/>
            <a:ext cx="7008672" cy="4617720"/>
          </a:xfrm>
          <a:prstGeom prst="rect">
            <a:avLst/>
          </a:prstGeom>
        </p:spPr>
      </p:pic>
      <p:sp>
        <p:nvSpPr>
          <p:cNvPr id="5" name="tx5"/>
          <p:cNvSpPr/>
          <p:nvPr/>
        </p:nvSpPr>
        <p:spPr>
          <a:xfrm>
            <a:off x="457200" y="5989320"/>
            <a:ext cx="11247120" cy="54864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sz="1600" b="0" cap="flat">
                <a:solidFill>
                  <a:srgbClr val="555555"/>
                </a:solidFill>
              </a:rPr>
              <a:t>COD order creation with exporter customer + bill-to.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3A5F"/>
          </a:solidFill>
        </p:spPr>
        <p:txBody>
          <a:bodyPr/>
          <a:lstStyle/>
          <a:p>
            <a:r>
              <a:t> </a:t>
            </a:r>
          </a:p>
        </p:txBody>
      </p:sp>
      <p:sp>
        <p:nvSpPr>
          <p:cNvPr id="3" name="tx3"/>
          <p:cNvSpPr/>
          <p:nvPr/>
        </p:nvSpPr>
        <p:spPr>
          <a:xfrm>
            <a:off x="457200" y="109728"/>
            <a:ext cx="11247120" cy="82296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sz="2800" b="1" cap="flat">
                <a:solidFill>
                  <a:srgbClr val="FFFFFF"/>
                </a:solidFill>
              </a:rPr>
              <a:t>Admin — Prepaid All Orders</a:t>
            </a:r>
          </a:p>
        </p:txBody>
      </p:sp>
      <p:pic>
        <p:nvPicPr>
          <p:cNvPr id="4" name="img4"/>
          <p:cNvPicPr/>
          <p:nvPr/>
        </p:nvPicPr>
        <p:blipFill>
          <a:blip r:embed="rId2"/>
          <a:stretch>
            <a:fillRect/>
          </a:stretch>
        </p:blipFill>
        <p:spPr>
          <a:xfrm>
            <a:off x="2590139" y="1188720"/>
            <a:ext cx="7008672" cy="4617720"/>
          </a:xfrm>
          <a:prstGeom prst="rect">
            <a:avLst/>
          </a:prstGeom>
        </p:spPr>
      </p:pic>
      <p:sp>
        <p:nvSpPr>
          <p:cNvPr id="5" name="tx5"/>
          <p:cNvSpPr/>
          <p:nvPr/>
        </p:nvSpPr>
        <p:spPr>
          <a:xfrm>
            <a:off x="457200" y="5989320"/>
            <a:ext cx="11247120" cy="54864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sz="1600" b="0" cap="flat">
                <a:solidFill>
                  <a:srgbClr val="555555"/>
                </a:solidFill>
              </a:rPr>
              <a:t>Prepaid orders with manifests and labels.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3A5F"/>
          </a:solidFill>
        </p:spPr>
        <p:txBody>
          <a:bodyPr/>
          <a:lstStyle/>
          <a:p>
            <a:r>
              <a:t> </a:t>
            </a:r>
          </a:p>
        </p:txBody>
      </p:sp>
      <p:sp>
        <p:nvSpPr>
          <p:cNvPr id="3" name="tx3"/>
          <p:cNvSpPr/>
          <p:nvPr/>
        </p:nvSpPr>
        <p:spPr>
          <a:xfrm>
            <a:off x="457200" y="109728"/>
            <a:ext cx="11247120" cy="82296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sz="2800" b="1" cap="flat">
                <a:solidFill>
                  <a:srgbClr val="FFFFFF"/>
                </a:solidFill>
              </a:rPr>
              <a:t>Admin — Prepaid Create Order</a:t>
            </a:r>
          </a:p>
        </p:txBody>
      </p:sp>
      <p:pic>
        <p:nvPicPr>
          <p:cNvPr id="4" name="img4"/>
          <p:cNvPicPr/>
          <p:nvPr/>
        </p:nvPicPr>
        <p:blipFill>
          <a:blip r:embed="rId2"/>
          <a:stretch>
            <a:fillRect/>
          </a:stretch>
        </p:blipFill>
        <p:spPr>
          <a:xfrm>
            <a:off x="2590139" y="1188720"/>
            <a:ext cx="7008672" cy="4617720"/>
          </a:xfrm>
          <a:prstGeom prst="rect">
            <a:avLst/>
          </a:prstGeom>
        </p:spPr>
      </p:pic>
      <p:sp>
        <p:nvSpPr>
          <p:cNvPr id="5" name="tx5"/>
          <p:cNvSpPr/>
          <p:nvPr/>
        </p:nvSpPr>
        <p:spPr>
          <a:xfrm>
            <a:off x="457200" y="5989320"/>
            <a:ext cx="11247120" cy="54864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sz="1600" b="0" cap="flat">
                <a:solidFill>
                  <a:srgbClr val="555555"/>
                </a:solidFill>
              </a:rPr>
              <a:t>Prepaid order creation with carrier booking.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3A5F"/>
          </a:solidFill>
        </p:spPr>
        <p:txBody>
          <a:bodyPr/>
          <a:lstStyle/>
          <a:p>
            <a:r>
              <a:t> </a:t>
            </a:r>
          </a:p>
        </p:txBody>
      </p:sp>
      <p:sp>
        <p:nvSpPr>
          <p:cNvPr id="3" name="tx3"/>
          <p:cNvSpPr/>
          <p:nvPr/>
        </p:nvSpPr>
        <p:spPr>
          <a:xfrm>
            <a:off x="457200" y="109728"/>
            <a:ext cx="11247120" cy="82296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sz="2800" b="1" cap="flat">
                <a:solidFill>
                  <a:srgbClr val="FFFFFF"/>
                </a:solidFill>
              </a:rPr>
              <a:t>Admin — Manage Rates</a:t>
            </a:r>
          </a:p>
        </p:txBody>
      </p:sp>
      <p:pic>
        <p:nvPicPr>
          <p:cNvPr id="4" name="img4"/>
          <p:cNvPicPr/>
          <p:nvPr/>
        </p:nvPicPr>
        <p:blipFill>
          <a:blip r:embed="rId2"/>
          <a:stretch>
            <a:fillRect/>
          </a:stretch>
        </p:blipFill>
        <p:spPr>
          <a:xfrm>
            <a:off x="2590139" y="1188720"/>
            <a:ext cx="7008672" cy="4617720"/>
          </a:xfrm>
          <a:prstGeom prst="rect">
            <a:avLst/>
          </a:prstGeom>
        </p:spPr>
      </p:pic>
      <p:sp>
        <p:nvSpPr>
          <p:cNvPr id="5" name="tx5"/>
          <p:cNvSpPr/>
          <p:nvPr/>
        </p:nvSpPr>
        <p:spPr>
          <a:xfrm>
            <a:off x="457200" y="5989320"/>
            <a:ext cx="11247120" cy="54864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sz="1600" b="0" cap="flat">
                <a:solidFill>
                  <a:srgbClr val="555555"/>
                </a:solidFill>
              </a:rPr>
              <a:t>Courier rate upload, zones and country mapping.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3A5F"/>
          </a:solidFill>
        </p:spPr>
        <p:txBody>
          <a:bodyPr/>
          <a:lstStyle/>
          <a:p>
            <a:r>
              <a:t> </a:t>
            </a:r>
          </a:p>
        </p:txBody>
      </p:sp>
      <p:sp>
        <p:nvSpPr>
          <p:cNvPr id="3" name="tx3"/>
          <p:cNvSpPr/>
          <p:nvPr/>
        </p:nvSpPr>
        <p:spPr>
          <a:xfrm>
            <a:off x="457200" y="109728"/>
            <a:ext cx="11247120" cy="82296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sz="2800" b="1" cap="flat">
                <a:solidFill>
                  <a:srgbClr val="FFFFFF"/>
                </a:solidFill>
              </a:rPr>
              <a:t>Admin — Wallet Transactions</a:t>
            </a:r>
          </a:p>
        </p:txBody>
      </p:sp>
      <p:pic>
        <p:nvPicPr>
          <p:cNvPr id="4" name="img4"/>
          <p:cNvPicPr/>
          <p:nvPr/>
        </p:nvPicPr>
        <p:blipFill>
          <a:blip r:embed="rId2"/>
          <a:stretch>
            <a:fillRect/>
          </a:stretch>
        </p:blipFill>
        <p:spPr>
          <a:xfrm>
            <a:off x="2590139" y="1188720"/>
            <a:ext cx="7008672" cy="4617720"/>
          </a:xfrm>
          <a:prstGeom prst="rect">
            <a:avLst/>
          </a:prstGeom>
        </p:spPr>
      </p:pic>
      <p:sp>
        <p:nvSpPr>
          <p:cNvPr id="5" name="tx5"/>
          <p:cNvSpPr/>
          <p:nvPr/>
        </p:nvSpPr>
        <p:spPr>
          <a:xfrm>
            <a:off x="457200" y="5989320"/>
            <a:ext cx="11247120" cy="54864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sz="1600" b="0" cap="flat">
                <a:solidFill>
                  <a:srgbClr val="555555"/>
                </a:solidFill>
              </a:rPr>
              <a:t>Customer wallet credits, debits and dispute charges.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3A5F"/>
          </a:solidFill>
        </p:spPr>
        <p:txBody>
          <a:bodyPr/>
          <a:lstStyle/>
          <a:p>
            <a:r>
              <a:t> </a:t>
            </a:r>
          </a:p>
        </p:txBody>
      </p:sp>
      <p:sp>
        <p:nvSpPr>
          <p:cNvPr id="3" name="tx3"/>
          <p:cNvSpPr/>
          <p:nvPr/>
        </p:nvSpPr>
        <p:spPr>
          <a:xfrm>
            <a:off x="457200" y="109728"/>
            <a:ext cx="11247120" cy="82296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sz="2800" b="1" cap="flat">
                <a:solidFill>
                  <a:srgbClr val="FFFFFF"/>
                </a:solidFill>
              </a:rPr>
              <a:t>Admin — Not Implemented API Data</a:t>
            </a:r>
          </a:p>
        </p:txBody>
      </p:sp>
      <p:pic>
        <p:nvPicPr>
          <p:cNvPr id="4" name="img4"/>
          <p:cNvPicPr/>
          <p:nvPr/>
        </p:nvPicPr>
        <p:blipFill>
          <a:blip r:embed="rId2"/>
          <a:stretch>
            <a:fillRect/>
          </a:stretch>
        </p:blipFill>
        <p:spPr>
          <a:xfrm>
            <a:off x="2590139" y="1188720"/>
            <a:ext cx="7008672" cy="4617720"/>
          </a:xfrm>
          <a:prstGeom prst="rect">
            <a:avLst/>
          </a:prstGeom>
        </p:spPr>
      </p:pic>
      <p:sp>
        <p:nvSpPr>
          <p:cNvPr id="5" name="tx5"/>
          <p:cNvSpPr/>
          <p:nvPr/>
        </p:nvSpPr>
        <p:spPr>
          <a:xfrm>
            <a:off x="457200" y="5989320"/>
            <a:ext cx="11247120" cy="54864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sz="1600" b="0" cap="flat">
                <a:solidFill>
                  <a:srgbClr val="555555"/>
                </a:solidFill>
              </a:rPr>
              <a:t>NOT_IMPLEMENTED service orders with Excel export.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3A5F"/>
          </a:solidFill>
        </p:spPr>
        <p:txBody>
          <a:bodyPr/>
          <a:lstStyle/>
          <a:p>
            <a:r>
              <a:t> </a:t>
            </a:r>
          </a:p>
        </p:txBody>
      </p:sp>
      <p:sp>
        <p:nvSpPr>
          <p:cNvPr id="3" name="tx3"/>
          <p:cNvSpPr/>
          <p:nvPr/>
        </p:nvSpPr>
        <p:spPr>
          <a:xfrm>
            <a:off x="457200" y="109728"/>
            <a:ext cx="11247120" cy="82296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sz="2800" b="1" cap="flat">
                <a:solidFill>
                  <a:srgbClr val="FFFFFF"/>
                </a:solidFill>
              </a:rPr>
              <a:t>Admin — Dispute Orders</a:t>
            </a:r>
          </a:p>
        </p:txBody>
      </p:sp>
      <p:pic>
        <p:nvPicPr>
          <p:cNvPr id="4" name="img4"/>
          <p:cNvPicPr/>
          <p:nvPr/>
        </p:nvPicPr>
        <p:blipFill>
          <a:blip r:embed="rId2"/>
          <a:stretch>
            <a:fillRect/>
          </a:stretch>
        </p:blipFill>
        <p:spPr>
          <a:xfrm>
            <a:off x="2590139" y="1188720"/>
            <a:ext cx="7008672" cy="4617720"/>
          </a:xfrm>
          <a:prstGeom prst="rect">
            <a:avLst/>
          </a:prstGeom>
        </p:spPr>
      </p:pic>
      <p:sp>
        <p:nvSpPr>
          <p:cNvPr id="5" name="tx5"/>
          <p:cNvSpPr/>
          <p:nvPr/>
        </p:nvSpPr>
        <p:spPr>
          <a:xfrm>
            <a:off x="457200" y="5989320"/>
            <a:ext cx="11247120" cy="54864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sz="1600" b="0" cap="flat">
                <a:solidFill>
                  <a:srgbClr val="555555"/>
                </a:solidFill>
              </a:rPr>
              <a:t>Disputed shipments with charge handling.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3A5F"/>
          </a:solidFill>
        </p:spPr>
        <p:txBody>
          <a:bodyPr/>
          <a:lstStyle/>
          <a:p>
            <a:r>
              <a:t> </a:t>
            </a:r>
          </a:p>
        </p:txBody>
      </p:sp>
      <p:sp>
        <p:nvSpPr>
          <p:cNvPr id="3" name="tx3"/>
          <p:cNvSpPr/>
          <p:nvPr/>
        </p:nvSpPr>
        <p:spPr>
          <a:xfrm>
            <a:off x="457200" y="109728"/>
            <a:ext cx="11247120" cy="82296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sz="2800" b="1" cap="flat">
                <a:solidFill>
                  <a:srgbClr val="FFFFFF"/>
                </a:solidFill>
              </a:rPr>
              <a:t>Admin — Cancel Orders</a:t>
            </a:r>
          </a:p>
        </p:txBody>
      </p:sp>
      <p:pic>
        <p:nvPicPr>
          <p:cNvPr id="4" name="img4"/>
          <p:cNvPicPr/>
          <p:nvPr/>
        </p:nvPicPr>
        <p:blipFill>
          <a:blip r:embed="rId2"/>
          <a:stretch>
            <a:fillRect/>
          </a:stretch>
        </p:blipFill>
        <p:spPr>
          <a:xfrm>
            <a:off x="2590139" y="1188720"/>
            <a:ext cx="7008672" cy="4617720"/>
          </a:xfrm>
          <a:prstGeom prst="rect">
            <a:avLst/>
          </a:prstGeom>
        </p:spPr>
      </p:pic>
      <p:sp>
        <p:nvSpPr>
          <p:cNvPr id="5" name="tx5"/>
          <p:cNvSpPr/>
          <p:nvPr/>
        </p:nvSpPr>
        <p:spPr>
          <a:xfrm>
            <a:off x="457200" y="5989320"/>
            <a:ext cx="11247120" cy="54864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sz="1600" b="0" cap="flat">
                <a:solidFill>
                  <a:srgbClr val="555555"/>
                </a:solidFill>
              </a:rPr>
              <a:t>Cancelled shipments audit.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3A5F"/>
          </a:solidFill>
        </p:spPr>
        <p:txBody>
          <a:bodyPr/>
          <a:lstStyle/>
          <a:p>
            <a:r>
              <a:t> </a:t>
            </a:r>
          </a:p>
        </p:txBody>
      </p:sp>
      <p:sp>
        <p:nvSpPr>
          <p:cNvPr id="3" name="tx3"/>
          <p:cNvSpPr/>
          <p:nvPr/>
        </p:nvSpPr>
        <p:spPr>
          <a:xfrm>
            <a:off x="457200" y="109728"/>
            <a:ext cx="11247120" cy="82296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sz="2800" b="1" cap="flat">
                <a:solidFill>
                  <a:srgbClr val="FFFFFF"/>
                </a:solidFill>
              </a:rPr>
              <a:t>Admin — Not Received at Hub</a:t>
            </a:r>
          </a:p>
        </p:txBody>
      </p:sp>
      <p:pic>
        <p:nvPicPr>
          <p:cNvPr id="4" name="img4"/>
          <p:cNvPicPr/>
          <p:nvPr/>
        </p:nvPicPr>
        <p:blipFill>
          <a:blip r:embed="rId2"/>
          <a:stretch>
            <a:fillRect/>
          </a:stretch>
        </p:blipFill>
        <p:spPr>
          <a:xfrm>
            <a:off x="2590139" y="1188720"/>
            <a:ext cx="7008672" cy="4617720"/>
          </a:xfrm>
          <a:prstGeom prst="rect">
            <a:avLst/>
          </a:prstGeom>
        </p:spPr>
      </p:pic>
      <p:sp>
        <p:nvSpPr>
          <p:cNvPr id="5" name="tx5"/>
          <p:cNvSpPr/>
          <p:nvPr/>
        </p:nvSpPr>
        <p:spPr>
          <a:xfrm>
            <a:off x="457200" y="5989320"/>
            <a:ext cx="11247120" cy="54864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sz="1600" b="0" cap="flat">
                <a:solidFill>
                  <a:srgbClr val="555555"/>
                </a:solidFill>
              </a:rPr>
              <a:t>Hub non-receipt tracking.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3A5F"/>
          </a:solidFill>
        </p:spPr>
        <p:txBody>
          <a:bodyPr/>
          <a:lstStyle/>
          <a:p>
            <a:r>
              <a:t> </a:t>
            </a:r>
          </a:p>
        </p:txBody>
      </p:sp>
      <p:sp>
        <p:nvSpPr>
          <p:cNvPr id="3" name="tx3"/>
          <p:cNvSpPr/>
          <p:nvPr/>
        </p:nvSpPr>
        <p:spPr>
          <a:xfrm>
            <a:off x="457200" y="109728"/>
            <a:ext cx="11247120" cy="82296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sz="3200" b="1" cap="flat">
                <a:solidFill>
                  <a:srgbClr val="FFFFFF"/>
                </a:solidFill>
              </a:rPr>
              <a:t>Open APIs (no auth)</a:t>
            </a:r>
          </a:p>
        </p:txBody>
      </p:sp>
      <p:sp>
        <p:nvSpPr>
          <p:cNvPr id="4" name="bul4"/>
          <p:cNvSpPr/>
          <p:nvPr/>
        </p:nvSpPr>
        <p:spPr>
          <a:xfrm>
            <a:off x="640080" y="1463040"/>
            <a:ext cx="10881360" cy="4937760"/>
          </a:xfrm>
          <a:prstGeom prst="rect">
            <a:avLst/>
          </a:prstGeom>
        </p:spPr>
        <p:txBody>
          <a:bodyPr/>
          <a:lstStyle/>
          <a:p>
            <a:pPr marL="228600" indent="-228600">
              <a:buChar char="•"/>
            </a:pPr>
            <a:r>
              <a:rPr lang="en-US" sz="2000" cap="flat">
                <a:solidFill>
                  <a:srgbClr val="333333"/>
                </a:solidFill>
              </a:rPr>
              <a:t>POST /api/wallet-recharge — {customer_code, recharge_type, amount}</a:t>
            </a:r>
          </a:p>
          <a:p>
            <a:pPr marL="228600" indent="-228600">
              <a:buChar char="•"/>
            </a:pPr>
            <a:r>
              <a:rPr lang="en-US" sz="2000" cap="flat">
                <a:solidFill>
                  <a:srgbClr val="333333"/>
                </a:solidFill>
              </a:rPr>
              <a:t>POST /api/update-tracking — {awb_number, tracking_number} (NOT_IMPLEMENTED only)</a:t>
            </a:r>
          </a:p>
          <a:p>
            <a:pPr marL="228600" indent="-228600">
              <a:buChar char="•"/>
            </a:pPr>
            <a:r>
              <a:rPr lang="en-US" sz="2000" cap="flat">
                <a:solidFill>
                  <a:srgbClr val="333333"/>
                </a:solidFill>
              </a:rPr>
              <a:t>POST /api/close-cod — close COD/FOC order by AWB</a:t>
            </a:r>
          </a:p>
          <a:p>
            <a:pPr marL="228600" indent="-228600">
              <a:buChar char="•"/>
            </a:pPr>
            <a:r>
              <a:rPr lang="en-US" sz="2000" cap="flat">
                <a:solidFill>
                  <a:srgbClr val="333333"/>
                </a:solidFill>
              </a:rPr>
              <a:t>POST /api/v1/... — token-based customer manifest APIs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nd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3A5F"/>
          </a:solidFill>
        </p:spPr>
        <p:txBody>
          <a:bodyPr/>
          <a:lstStyle/>
          <a:p>
            <a:r>
              <a:t> </a:t>
            </a:r>
          </a:p>
        </p:txBody>
      </p:sp>
      <p:pic>
        <p:nvPicPr>
          <p:cNvPr id="9" name="img9"/>
          <p:cNvPicPr/>
          <p:nvPr/>
        </p:nvPicPr>
        <p:blipFill>
          <a:blip r:embed="rId2"/>
          <a:stretch>
            <a:fillRect/>
          </a:stretch>
        </p:blipFill>
        <p:spPr>
          <a:xfrm>
            <a:off x="4997196" y="777240"/>
            <a:ext cx="2194560" cy="910336"/>
          </a:xfrm>
          <a:prstGeom prst="rect">
            <a:avLst/>
          </a:prstGeom>
        </p:spPr>
      </p:pic>
      <p:sp>
        <p:nvSpPr>
          <p:cNvPr id="3" name="tx3"/>
          <p:cNvSpPr/>
          <p:nvPr/>
        </p:nvSpPr>
        <p:spPr>
          <a:xfrm>
            <a:off x="731520" y="2194560"/>
            <a:ext cx="10698480" cy="1280160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sz="5400" b="1" cap="flat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4" name="tx4"/>
          <p:cNvSpPr/>
          <p:nvPr/>
        </p:nvSpPr>
        <p:spPr>
          <a:xfrm>
            <a:off x="731520" y="3566160"/>
            <a:ext cx="10698480" cy="731520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sz="2400" b="0" cap="flat">
                <a:solidFill>
                  <a:srgbClr val="D9E2F3"/>
                </a:solidFill>
              </a:rPr>
              <a:t>United Courier  •  unitedcouriers.biz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